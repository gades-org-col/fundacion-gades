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notesMasterIdLst>
    <p:notesMasterId r:id="rId19"/>
  </p:notesMasterIdLst>
  <p:handoutMasterIdLst>
    <p:handoutMasterId r:id="rId20"/>
  </p:handoutMasterIdLst>
  <p:sldIdLst>
    <p:sldId id="299" r:id="rId2"/>
    <p:sldId id="300" r:id="rId3"/>
    <p:sldId id="337" r:id="rId4"/>
    <p:sldId id="288" r:id="rId5"/>
    <p:sldId id="355" r:id="rId6"/>
    <p:sldId id="356" r:id="rId7"/>
    <p:sldId id="357" r:id="rId8"/>
    <p:sldId id="358" r:id="rId9"/>
    <p:sldId id="340" r:id="rId10"/>
    <p:sldId id="352" r:id="rId11"/>
    <p:sldId id="302" r:id="rId12"/>
    <p:sldId id="345" r:id="rId13"/>
    <p:sldId id="343" r:id="rId14"/>
    <p:sldId id="353" r:id="rId15"/>
    <p:sldId id="347" r:id="rId16"/>
    <p:sldId id="349" r:id="rId17"/>
    <p:sldId id="350" r:id="rId18"/>
  </p:sldIdLst>
  <p:sldSz cx="9144000" cy="6858000" type="screen4x3"/>
  <p:notesSz cx="6858000" cy="9117013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Unicode MS" pitchFamily="34" charset="-128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0000"/>
    <a:srgbClr val="0099CC"/>
    <a:srgbClr val="0099FF"/>
    <a:srgbClr val="0066FF"/>
    <a:srgbClr val="0066CC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9511" autoAdjust="0"/>
  </p:normalViewPr>
  <p:slideViewPr>
    <p:cSldViewPr>
      <p:cViewPr>
        <p:scale>
          <a:sx n="80" d="100"/>
          <a:sy n="80" d="100"/>
        </p:scale>
        <p:origin x="-1704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544D9CB-587E-45E3-907B-859F0498319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87494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0938" y="684213"/>
            <a:ext cx="4556125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30700"/>
            <a:ext cx="5486400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59813"/>
            <a:ext cx="29718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763E481-0DEE-43D4-B33C-3E527F081CB8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4878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 Unicode MS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Unicode MS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Unicode MS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Unicode MS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Unicode MS" pitchFamily="34" charset="-128"/>
              </a:defRPr>
            </a:lvl9pPr>
          </a:lstStyle>
          <a:p>
            <a:pPr eaLnBrk="1" hangingPunct="1"/>
            <a:fld id="{B012C91E-A331-43C9-8C0E-D5F92B25454E}" type="slidenum">
              <a:rPr lang="es-ES" smtClean="0">
                <a:latin typeface="Arial" charset="0"/>
              </a:rPr>
              <a:pPr eaLnBrk="1" hangingPunct="1"/>
              <a:t>4</a:t>
            </a:fld>
            <a:endParaRPr lang="es-ES" smtClean="0">
              <a:latin typeface="Arial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CO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50AE9A-CB30-4CB1-AF98-D3C0414C18AF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96AE2C-BB98-48C4-B43E-8202521CAEF6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FE1277-B44B-4C8D-91E5-DA72A6C1D57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DB18D2-DF56-4724-80D7-B66A97D7EE58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8D6002-55AE-42FF-9186-1077D6F0DC10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49C693-C362-46E7-85AA-ECA7CAFD292B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907015-25B6-4A23-B747-2DCE0FD185B1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3B3CF8-E02D-4DDD-BBC0-D2268D6F0CC1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11F1D15F-8581-4E87-8106-D14989DDCC67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8D34AC-E565-44C4-9FE1-34DF4852BDAA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84E56B-1A4F-4B9D-99EC-4A5E4ACA5FDF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C5F0EFC8-DCE4-4454-A237-D60F71D7D416}" type="slidenum">
              <a:rPr lang="es-ES" smtClean="0"/>
              <a:pPr>
                <a:defRPr/>
              </a:pPr>
              <a:t>‹Nº›</a:t>
            </a:fld>
            <a:endParaRPr lang="es-E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25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18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eg"/><Relationship Id="rId11" Type="http://schemas.openxmlformats.org/officeDocument/2006/relationships/image" Target="../media/image35.jpeg"/><Relationship Id="rId5" Type="http://schemas.openxmlformats.org/officeDocument/2006/relationships/image" Target="../media/image29.jpeg"/><Relationship Id="rId10" Type="http://schemas.openxmlformats.org/officeDocument/2006/relationships/image" Target="../media/image34.jpeg"/><Relationship Id="rId4" Type="http://schemas.openxmlformats.org/officeDocument/2006/relationships/image" Target="../media/image28.jpeg"/><Relationship Id="rId9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jpeg"/><Relationship Id="rId11" Type="http://schemas.openxmlformats.org/officeDocument/2006/relationships/image" Target="../media/image45.jpeg"/><Relationship Id="rId5" Type="http://schemas.openxmlformats.org/officeDocument/2006/relationships/image" Target="../media/image39.jpeg"/><Relationship Id="rId10" Type="http://schemas.openxmlformats.org/officeDocument/2006/relationships/image" Target="../media/image44.jpe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00" name="Text Box 8"/>
          <p:cNvSpPr txBox="1">
            <a:spLocks noChangeArrowheads="1"/>
          </p:cNvSpPr>
          <p:nvPr/>
        </p:nvSpPr>
        <p:spPr bwMode="auto">
          <a:xfrm>
            <a:off x="0" y="2133600"/>
            <a:ext cx="9144000" cy="19208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" sz="6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Las acciones de hoy construyen el mañana</a:t>
            </a:r>
            <a:r>
              <a:rPr lang="es-ES" sz="6000" b="1" dirty="0">
                <a:solidFill>
                  <a:schemeClr val="tx1"/>
                </a:solidFill>
                <a:latin typeface="Bradley Hand ITC" pitchFamily="66" charset="0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5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0" y="2133600"/>
            <a:ext cx="9144000" cy="27701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ES" sz="5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Las acciones de ayer hicieron posible los resultados que mostramos hoy…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GAD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5938"/>
            <a:ext cx="9144000" cy="334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5940152" y="5733256"/>
            <a:ext cx="30015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s-CO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1997 - </a:t>
            </a:r>
            <a:r>
              <a:rPr lang="es-CO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2016</a:t>
            </a:r>
            <a:endParaRPr lang="es-E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21647" y="832058"/>
            <a:ext cx="8928992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b="1" dirty="0">
                <a:latin typeface="Arial" pitchFamily="34" charset="0"/>
                <a:cs typeface="Arial" pitchFamily="34" charset="0"/>
              </a:rPr>
              <a:t>CONSTITUCION Y REGISTRO </a:t>
            </a:r>
          </a:p>
          <a:p>
            <a:pPr algn="just"/>
            <a:r>
              <a:rPr lang="es-CO" sz="1600" dirty="0">
                <a:latin typeface="Arial" pitchFamily="34" charset="0"/>
                <a:cs typeface="Arial" pitchFamily="34" charset="0"/>
              </a:rPr>
              <a:t>Escritura de Constitución No 1.074 del 22 de abril de 1997 – Notaria Tercera de Palmira </a:t>
            </a:r>
          </a:p>
          <a:p>
            <a:pPr algn="just"/>
            <a:r>
              <a:rPr lang="es-CO" sz="1600" dirty="0">
                <a:latin typeface="Arial" pitchFamily="34" charset="0"/>
                <a:cs typeface="Arial" pitchFamily="34" charset="0"/>
              </a:rPr>
              <a:t>Registro Cámara de Comercio de Palmira No 000104-50 del 24 de abril de 1997 </a:t>
            </a:r>
          </a:p>
          <a:p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Registro de Proponentes en la Cámara de Comercio de Palmira No 7153 de Junio de 2016 </a:t>
            </a:r>
          </a:p>
          <a:p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Duración: Término Indefinido - Clasificación: Pequeña Empresa - NIT 815.000.850-0 </a:t>
            </a:r>
          </a:p>
          <a:p>
            <a:r>
              <a:rPr lang="es-CO" sz="1600" dirty="0">
                <a:latin typeface="Arial" panose="020B0604020202020204" pitchFamily="34" charset="0"/>
                <a:cs typeface="Arial" panose="020B0604020202020204" pitchFamily="34" charset="0"/>
              </a:rPr>
              <a:t>Clasificación Bienes, Obras y Servicios en el Tercer Nivel: Gestión de Cultivos Forestales - Servicios de Asesoría Ambiental - Rehabilitación Ambiental - Servicios de Acueductos y Alcantarillados </a:t>
            </a:r>
            <a:endParaRPr lang="es-CO" sz="16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O" dirty="0"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es-ES" b="1" dirty="0">
                <a:latin typeface="Arial" pitchFamily="34" charset="0"/>
                <a:cs typeface="Arial" pitchFamily="34" charset="0"/>
              </a:rPr>
              <a:t>ANTECEDENTES</a:t>
            </a:r>
          </a:p>
          <a:p>
            <a:pPr algn="just">
              <a:defRPr/>
            </a:pPr>
            <a:r>
              <a:rPr lang="es-ES" sz="1600" dirty="0" smtClean="0">
                <a:latin typeface="Arial" pitchFamily="34" charset="0"/>
                <a:cs typeface="Arial" pitchFamily="34" charset="0"/>
              </a:rPr>
              <a:t>Fundación para la Gestión Agro Ambiental y el Desarrollo Empresarial y Social-GADES (2016)</a:t>
            </a:r>
          </a:p>
          <a:p>
            <a:pPr algn="just">
              <a:defRPr/>
            </a:pPr>
            <a:r>
              <a:rPr lang="es-ES" sz="1600" dirty="0" smtClean="0">
                <a:latin typeface="Arial" pitchFamily="34" charset="0"/>
                <a:cs typeface="Arial" pitchFamily="34" charset="0"/>
              </a:rPr>
              <a:t>Asociación </a:t>
            </a:r>
            <a:r>
              <a:rPr lang="es-ES" sz="1600" dirty="0">
                <a:latin typeface="Arial" pitchFamily="34" charset="0"/>
                <a:cs typeface="Arial" pitchFamily="34" charset="0"/>
              </a:rPr>
              <a:t>para la Gestión Ambiental y el Desarrollo Social-GADES (2005-2015)</a:t>
            </a:r>
          </a:p>
          <a:p>
            <a:pPr algn="just">
              <a:defRPr/>
            </a:pPr>
            <a:r>
              <a:rPr lang="es-ES" sz="1600" dirty="0">
                <a:latin typeface="Arial" pitchFamily="34" charset="0"/>
                <a:cs typeface="Arial" pitchFamily="34" charset="0"/>
              </a:rPr>
              <a:t>Asociación Red Ambientalista Juvenil-RAJ (1997 – 2004)</a:t>
            </a:r>
          </a:p>
          <a:p>
            <a:pPr algn="just">
              <a:defRPr/>
            </a:pPr>
            <a:r>
              <a:rPr lang="es-ES" sz="1600" dirty="0">
                <a:latin typeface="Arial" pitchFamily="34" charset="0"/>
                <a:cs typeface="Arial" pitchFamily="34" charset="0"/>
              </a:rPr>
              <a:t>Red Juvenil del Cabildo Verde de Palmira (1992-1994) </a:t>
            </a:r>
          </a:p>
          <a:p>
            <a:pPr algn="just">
              <a:defRPr/>
            </a:pPr>
            <a:r>
              <a:rPr lang="es-ES" sz="1600" dirty="0" smtClean="0">
                <a:latin typeface="Arial" pitchFamily="34" charset="0"/>
                <a:cs typeface="Arial" pitchFamily="34" charset="0"/>
              </a:rPr>
              <a:t>Área </a:t>
            </a:r>
            <a:r>
              <a:rPr lang="es-ES" sz="1600" dirty="0" smtClean="0">
                <a:latin typeface="Arial" pitchFamily="34" charset="0"/>
                <a:cs typeface="Arial" pitchFamily="34" charset="0"/>
              </a:rPr>
              <a:t>Influencia: </a:t>
            </a:r>
            <a:r>
              <a:rPr lang="es-ES" sz="1600" dirty="0" smtClean="0">
                <a:latin typeface="Arial" pitchFamily="34" charset="0"/>
                <a:cs typeface="Arial" pitchFamily="34" charset="0"/>
              </a:rPr>
              <a:t>Nacional – Implementaciones en: </a:t>
            </a:r>
            <a:r>
              <a:rPr lang="es-ES" sz="1600" dirty="0" smtClean="0">
                <a:latin typeface="Arial" pitchFamily="34" charset="0"/>
                <a:cs typeface="Arial" pitchFamily="34" charset="0"/>
              </a:rPr>
              <a:t>Palmira</a:t>
            </a:r>
            <a:r>
              <a:rPr lang="es-ES" sz="1600" dirty="0">
                <a:latin typeface="Arial" pitchFamily="34" charset="0"/>
                <a:cs typeface="Arial" pitchFamily="34" charset="0"/>
              </a:rPr>
              <a:t>, Candelaria, Pradera, Florida, El Cerrito, </a:t>
            </a:r>
            <a:r>
              <a:rPr lang="es-ES" sz="1600" dirty="0" smtClean="0">
                <a:latin typeface="Arial" pitchFamily="34" charset="0"/>
                <a:cs typeface="Arial" pitchFamily="34" charset="0"/>
              </a:rPr>
              <a:t>Guacarí, </a:t>
            </a:r>
            <a:r>
              <a:rPr lang="es-ES" sz="1600" dirty="0" smtClean="0">
                <a:latin typeface="Arial" pitchFamily="34" charset="0"/>
                <a:cs typeface="Arial" pitchFamily="34" charset="0"/>
              </a:rPr>
              <a:t>Darién </a:t>
            </a:r>
            <a:r>
              <a:rPr lang="es-ES" sz="1600" dirty="0">
                <a:latin typeface="Arial" pitchFamily="34" charset="0"/>
                <a:cs typeface="Arial" pitchFamily="34" charset="0"/>
              </a:rPr>
              <a:t>y </a:t>
            </a:r>
            <a:r>
              <a:rPr lang="es-ES" sz="1600" dirty="0" smtClean="0">
                <a:latin typeface="Arial" pitchFamily="34" charset="0"/>
                <a:cs typeface="Arial" pitchFamily="34" charset="0"/>
              </a:rPr>
              <a:t>Ginebra</a:t>
            </a:r>
          </a:p>
          <a:p>
            <a:pPr algn="just"/>
            <a:endParaRPr lang="es-CO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O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CO" b="1" dirty="0" smtClean="0">
                <a:latin typeface="Arial" pitchFamily="34" charset="0"/>
                <a:cs typeface="Arial" pitchFamily="34" charset="0"/>
              </a:rPr>
              <a:t>OBJETO </a:t>
            </a:r>
            <a:r>
              <a:rPr lang="es-CO" b="1" dirty="0">
                <a:latin typeface="Arial" pitchFamily="34" charset="0"/>
                <a:cs typeface="Arial" pitchFamily="34" charset="0"/>
              </a:rPr>
              <a:t>SOCIAL </a:t>
            </a:r>
            <a:endParaRPr lang="es-CO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CO" dirty="0">
                <a:latin typeface="Arial" pitchFamily="34" charset="0"/>
                <a:cs typeface="Arial" pitchFamily="34" charset="0"/>
              </a:rPr>
              <a:t>Promover la educación y la cultura en la conservación y mejoramiento de la calidad de vida de la población urbana y rural; mediante la protección del ambiente y la implementación de acciones que aporten en la construcción de tejido social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79512" y="837867"/>
            <a:ext cx="885698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b="1" dirty="0" smtClean="0">
                <a:latin typeface="Arial" pitchFamily="34" charset="0"/>
                <a:cs typeface="Arial" pitchFamily="34" charset="0"/>
              </a:rPr>
              <a:t>VISION </a:t>
            </a:r>
            <a:endParaRPr lang="es-CO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CO" dirty="0" smtClean="0">
                <a:latin typeface="Arial" pitchFamily="34" charset="0"/>
                <a:cs typeface="Arial" pitchFamily="34" charset="0"/>
              </a:rPr>
              <a:t>Ser, en el nuevo milenio, los mejores facilitadores de procesos relacionados con el fortalecimiento de movimientos sociales, el mejoramiento de los niveles de convivencia y el desarrollo humano, favoreciendo formas de producción sostenible y la protección ambiental; en las eco regiones estratégicas del territorio nacional. </a:t>
            </a:r>
          </a:p>
          <a:p>
            <a:pPr algn="just"/>
            <a:endParaRPr lang="es-CO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O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CO" b="1" dirty="0" smtClean="0">
                <a:latin typeface="Arial" pitchFamily="34" charset="0"/>
                <a:cs typeface="Arial" pitchFamily="34" charset="0"/>
              </a:rPr>
              <a:t>MISION INSTITUCIONAL </a:t>
            </a:r>
            <a:endParaRPr lang="es-CO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CO" dirty="0" smtClean="0">
                <a:latin typeface="Arial" pitchFamily="34" charset="0"/>
                <a:cs typeface="Arial" pitchFamily="34" charset="0"/>
              </a:rPr>
              <a:t>Generar dinámicas internas de cualificación de los facilitadores, para la resolución de conflictos comunitarios que propendan por la convivencia armónica en varias dimensiones y en armonía con el entorno natural; a partir de procesos con enfoques productivos sociales y técnicamente viables, económicamente rentables y ambientalmente sostenibles, buscando encadenamientos productivos y construcción de tejido social, para el mejoramiento de la calidad de vida de los habitantes de las </a:t>
            </a:r>
            <a:r>
              <a:rPr lang="es-CO" dirty="0" err="1" smtClean="0">
                <a:latin typeface="Arial" pitchFamily="34" charset="0"/>
                <a:cs typeface="Arial" pitchFamily="34" charset="0"/>
              </a:rPr>
              <a:t>ecoregiones</a:t>
            </a:r>
            <a:r>
              <a:rPr lang="es-CO" dirty="0" smtClean="0">
                <a:latin typeface="Arial" pitchFamily="34" charset="0"/>
                <a:cs typeface="Arial" pitchFamily="34" charset="0"/>
              </a:rPr>
              <a:t> estratégicas del territorio nacional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1733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79512" y="836712"/>
            <a:ext cx="878497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>
                <a:latin typeface="Arial" panose="020B0604020202020204" pitchFamily="34" charset="0"/>
                <a:cs typeface="Arial" pitchFamily="34" charset="0"/>
              </a:rPr>
              <a:t>EXPERIENCIA INTERINSTITUCIONAL </a:t>
            </a:r>
            <a:endParaRPr lang="es-CO" dirty="0">
              <a:latin typeface="Arial" pitchFamily="34" charset="0"/>
              <a:cs typeface="Arial" pitchFamily="34" charset="0"/>
            </a:endParaRPr>
          </a:p>
          <a:p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19 Acuerdos inter institucionales con GADES: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Corporación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RECREAR (1997 -1998)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Instituto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Financiero de Palmira –INFIPAL (1999)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Acuavalle</a:t>
            </a: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S.A. E.S.P. (1999, 2009)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Alcaldía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de Palmira, Valle del Cauca (1999-2000, 2003, 2012)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Fondo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para la Acción Ambiental y la Niñez –FPAA/Fondo Acción (2001-2003)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Corporación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Ecofondo (2001-2003)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Corporación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Autónoma Regional del Valle del Cauca-CVC (1998, 1999, 2005-2007)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Alcaldía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de Darién, Valle del Cauca (2006)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Alcaldía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de Suarez, Cauca (2010-2011)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 smtClean="0">
                <a:latin typeface="Arial" panose="020B0604020202020204" pitchFamily="34" charset="0"/>
                <a:cs typeface="Arial" panose="020B0604020202020204" pitchFamily="34" charset="0"/>
              </a:rPr>
              <a:t>Fondo </a:t>
            </a: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Participativo para la Acción Ambiental-FPAA de la CVC (2006-2007, 2013-2014) </a:t>
            </a:r>
          </a:p>
        </p:txBody>
      </p:sp>
    </p:spTree>
    <p:extLst>
      <p:ext uri="{BB962C8B-B14F-4D97-AF65-F5344CB8AC3E}">
        <p14:creationId xmlns:p14="http://schemas.microsoft.com/office/powerpoint/2010/main" val="65054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O"/>
          </a:p>
        </p:txBody>
      </p:sp>
      <p:graphicFrame>
        <p:nvGraphicFramePr>
          <p:cNvPr id="3" name="2 Objeto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439117"/>
              </p:ext>
            </p:extLst>
          </p:nvPr>
        </p:nvGraphicFramePr>
        <p:xfrm>
          <a:off x="107504" y="1206044"/>
          <a:ext cx="8928992" cy="560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3" name="Organization Chart" r:id="rId3" imgW="3636488" imgH="2520208" progId="OrgPlusWOPX.4">
                  <p:embed/>
                </p:oleObj>
              </mc:Choice>
              <mc:Fallback>
                <p:oleObj name="Organization Chart" r:id="rId3" imgW="3636488" imgH="2520208" progId="OrgPlusWOPX.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206044"/>
                        <a:ext cx="8928992" cy="5603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3 CuadroTexto"/>
          <p:cNvSpPr txBox="1"/>
          <p:nvPr/>
        </p:nvSpPr>
        <p:spPr>
          <a:xfrm>
            <a:off x="107504" y="836712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 smtClean="0">
                <a:latin typeface="Arial" pitchFamily="34" charset="0"/>
                <a:cs typeface="Arial" pitchFamily="34" charset="0"/>
              </a:rPr>
              <a:t>ORGANIGRAMA</a:t>
            </a:r>
            <a:endParaRPr lang="es-CO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9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1396" y="692696"/>
            <a:ext cx="8928992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ÁREAS </a:t>
            </a:r>
            <a:r>
              <a:rPr lang="es-CO" sz="1100" b="1" dirty="0">
                <a:latin typeface="Arial" panose="020B0604020202020204" pitchFamily="34" charset="0"/>
                <a:cs typeface="Arial" panose="020B0604020202020204" pitchFamily="34" charset="0"/>
              </a:rPr>
              <a:t>DE TRABAJO </a:t>
            </a:r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Para el desarrollo de su objeto, la Fundación podrá realizar como fines específicos, las siguientes actividades: </a:t>
            </a:r>
          </a:p>
          <a:p>
            <a:r>
              <a:rPr lang="es-CO" sz="1100" b="1" dirty="0">
                <a:latin typeface="Arial" panose="020B0604020202020204" pitchFamily="34" charset="0"/>
                <a:cs typeface="Arial" panose="020B0604020202020204" pitchFamily="34" charset="0"/>
              </a:rPr>
              <a:t>Programas de Gestión Agro-Ambiental: </a:t>
            </a:r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1. Línea de Capacitación: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Educación Ambiental, y de apoyo a los PRAES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Turismo Comunitario Sostenible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Estudios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ambientales y del medio natural para la evaluación de impactos y mitigación de obras </a:t>
            </a:r>
          </a:p>
          <a:p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2. Línea de Protección de Cuencas: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Control de Torrentes y Erosión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Propagación Vegetal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Reforestación Urbana y Rural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Aislamiento de Nacimientos de Agua </a:t>
            </a:r>
          </a:p>
          <a:p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3. Línea de Saneamiento Básico: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Rurales de Acueductos, Alcantarillados y Potabilización de Agua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Gestión de Residuos Sólidos Orgánicos e Inorgánicos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Sistemas de Tratamientos de Aguas Residuales-</a:t>
            </a:r>
            <a:r>
              <a:rPr lang="es-CO" sz="1100" dirty="0" err="1">
                <a:latin typeface="Arial" panose="020B0604020202020204" pitchFamily="34" charset="0"/>
                <a:cs typeface="Arial" panose="020B0604020202020204" pitchFamily="34" charset="0"/>
              </a:rPr>
              <a:t>STAR´s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b="1" dirty="0">
                <a:latin typeface="Arial" panose="020B0604020202020204" pitchFamily="34" charset="0"/>
                <a:cs typeface="Arial" panose="020B0604020202020204" pitchFamily="34" charset="0"/>
              </a:rPr>
              <a:t>Programas de Desarrollo Empresarial: </a:t>
            </a:r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1. Línea Empresarial: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Gestión Empresarial y Transformación Agroindustrial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Agropecuarios Sostenibles con Encadenamiento Productivo y Comercial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Manipulación de Alimentos </a:t>
            </a:r>
          </a:p>
          <a:p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b="1" dirty="0">
                <a:latin typeface="Arial" panose="020B0604020202020204" pitchFamily="34" charset="0"/>
                <a:cs typeface="Arial" panose="020B0604020202020204" pitchFamily="34" charset="0"/>
              </a:rPr>
              <a:t>Programas de Desarrollo Social: </a:t>
            </a:r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1. Línea de Desarrollo Organizacional: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formación y fortalecimiento institucional de grupos vulnerables de base comunitaria. </a:t>
            </a:r>
          </a:p>
          <a:p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2. Línea de Desarrollo Social: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Promoción de la Defensa y Protección de los Derechos Humanos y la Atención de Personas en Condición de Desplazamiento y Vulnerables de Desplazamiento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Proyectos </a:t>
            </a:r>
            <a:r>
              <a:rPr lang="es-CO" sz="1100" dirty="0">
                <a:latin typeface="Arial" panose="020B0604020202020204" pitchFamily="34" charset="0"/>
                <a:cs typeface="Arial" panose="020B0604020202020204" pitchFamily="34" charset="0"/>
              </a:rPr>
              <a:t>de Atención e Inclusión Social, de Niños, Niñas y Adolescentes en Alto Riesgo. </a:t>
            </a:r>
          </a:p>
        </p:txBody>
      </p:sp>
    </p:spTree>
    <p:extLst>
      <p:ext uri="{BB962C8B-B14F-4D97-AF65-F5344CB8AC3E}">
        <p14:creationId xmlns:p14="http://schemas.microsoft.com/office/powerpoint/2010/main" val="3560834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0" y="1071546"/>
            <a:ext cx="9144000" cy="76944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CO" sz="4400" b="1" dirty="0">
                <a:latin typeface="Arial" pitchFamily="34" charset="0"/>
                <a:cs typeface="Arial" pitchFamily="34" charset="0"/>
              </a:rPr>
              <a:t>11.578 </a:t>
            </a:r>
            <a:r>
              <a:rPr lang="es-CO" sz="4400" b="1" dirty="0" smtClean="0">
                <a:latin typeface="Arial" pitchFamily="34" charset="0"/>
                <a:cs typeface="Arial" pitchFamily="34" charset="0"/>
              </a:rPr>
              <a:t>Beneficiarios</a:t>
            </a:r>
            <a:endParaRPr lang="es-E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9222" name="3 Imagen" descr="Repollo y Cilantr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75" y="3071813"/>
            <a:ext cx="2503488" cy="187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4 Imagen" descr="Capacitacion 1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25" y="3071813"/>
            <a:ext cx="2505075" cy="18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5 Imagen" descr="Capacitacion 3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714625"/>
            <a:ext cx="1787525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8 Imagen" descr="Maizal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938" y="2071688"/>
            <a:ext cx="1755775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9 Imagen" descr="Niños campesinos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2143125"/>
            <a:ext cx="1714500" cy="128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10 Imagen" descr="Recreacion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0438"/>
            <a:ext cx="1684338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12 Imagen" descr="Fusion 5.jp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71688"/>
            <a:ext cx="41370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7 Imagen" descr="Cultivos.jp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3643313"/>
            <a:ext cx="1714500" cy="129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6 Imagen" descr="Capacitacion.jpg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214688"/>
            <a:ext cx="190976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0" y="5301208"/>
            <a:ext cx="9144000" cy="95410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s-CO" sz="2800" b="1" dirty="0" smtClean="0">
                <a:latin typeface="Arial" pitchFamily="34" charset="0"/>
                <a:cs typeface="Arial" pitchFamily="34" charset="0"/>
              </a:rPr>
              <a:t>Niños, Niñas, Jóvenes, Campesinos, Afrocolombianos e Indígenas </a:t>
            </a:r>
            <a:endParaRPr lang="es-E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6 Imagen" descr="Fusion 4.jpg"/>
          <p:cNvPicPr>
            <a:picLocks noChangeAspect="1"/>
          </p:cNvPicPr>
          <p:nvPr/>
        </p:nvPicPr>
        <p:blipFill>
          <a:blip r:embed="rId2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07"/>
          <a:stretch>
            <a:fillRect/>
          </a:stretch>
        </p:blipFill>
        <p:spPr bwMode="auto">
          <a:xfrm>
            <a:off x="0" y="1714500"/>
            <a:ext cx="91440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3 Imagen" descr="Fusion 6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98975"/>
            <a:ext cx="9144000" cy="235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de Capacitación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70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de Capacitación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568951"/>
              </p:ext>
            </p:extLst>
          </p:nvPr>
        </p:nvGraphicFramePr>
        <p:xfrm>
          <a:off x="0" y="1908175"/>
          <a:ext cx="9144001" cy="4611688"/>
        </p:xfrm>
        <a:graphic>
          <a:graphicData uri="http://schemas.openxmlformats.org/drawingml/2006/table">
            <a:tbl>
              <a:tblPr/>
              <a:tblGrid>
                <a:gridCol w="2357422"/>
                <a:gridCol w="1214448"/>
                <a:gridCol w="714380"/>
                <a:gridCol w="3929090"/>
                <a:gridCol w="928661"/>
              </a:tblGrid>
              <a:tr h="5880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cap="none" baseline="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Áreas </a:t>
                      </a:r>
                      <a:r>
                        <a:rPr lang="es-ES" sz="1600" b="1" cap="none" baseline="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 Trabajo</a:t>
                      </a:r>
                      <a:endParaRPr lang="es-ES" sz="1600" cap="none" baseline="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B</a:t>
                      </a:r>
                      <a:r>
                        <a:rPr lang="es-ES" sz="15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eneficiarios </a:t>
                      </a:r>
                      <a:r>
                        <a:rPr lang="es-ES" sz="16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Directos</a:t>
                      </a:r>
                      <a:endParaRPr lang="es-ES" sz="16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Cant</a:t>
                      </a:r>
                      <a:r>
                        <a:rPr lang="es-ES" sz="16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.</a:t>
                      </a:r>
                      <a:endParaRPr lang="es-ES" sz="16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Descripción Objeto</a:t>
                      </a:r>
                      <a:endParaRPr lang="es-ES" sz="16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Periodo Años</a:t>
                      </a:r>
                      <a:endParaRPr lang="es-ES" sz="14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2347104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Capacitación y </a:t>
                      </a:r>
                      <a:r>
                        <a:rPr lang="es-ES" sz="22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Fortalecimiento </a:t>
                      </a: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Institucional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2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89</a:t>
                      </a:r>
                      <a:endParaRPr lang="es-ES" sz="22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>
                          <a:tab pos="228600" algn="l"/>
                        </a:tabLst>
                        <a:defRPr/>
                      </a:pPr>
                      <a:r>
                        <a:rPr lang="es-ES" sz="22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Asociación de Trabajadores del Río </a:t>
                      </a:r>
                      <a:r>
                        <a:rPr lang="es-ES" sz="2200" dirty="0" err="1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Nima</a:t>
                      </a:r>
                      <a:r>
                        <a:rPr lang="es-ES" sz="22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-ASOTRANIMA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es-ES" sz="22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Fundación </a:t>
                      </a: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Transformadores de Vida</a:t>
                      </a:r>
                    </a:p>
                    <a:p>
                      <a:pPr marL="342900" lvl="0" indent="-342900" algn="just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Asociación Campesina Unida </a:t>
                      </a:r>
                      <a:r>
                        <a:rPr lang="es-ES" sz="2200" dirty="0" err="1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Veredal</a:t>
                      </a:r>
                      <a:r>
                        <a:rPr lang="es-ES" sz="22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-ACUV</a:t>
                      </a:r>
                      <a:endParaRPr lang="es-ES" sz="22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2001 2003 2006 </a:t>
                      </a: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2007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2013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2014</a:t>
                      </a:r>
                      <a:endParaRPr lang="es-ES" sz="20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6503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Educación Ambiental</a:t>
                      </a:r>
                    </a:p>
                  </a:txBody>
                  <a:tcPr marL="64508" marR="645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9.709</a:t>
                      </a:r>
                    </a:p>
                  </a:txBody>
                  <a:tcPr marL="64508" marR="645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buFont typeface="Arial" pitchFamily="34" charset="0"/>
                        <a:buNone/>
                      </a:pP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43</a:t>
                      </a:r>
                    </a:p>
                  </a:txBody>
                  <a:tcPr marL="64508" marR="645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Establecimientos Educativos de Básica Primaria y Secundaria del Distrito Educativo N</a:t>
                      </a:r>
                      <a:r>
                        <a:rPr lang="es-ES" sz="2200" baseline="30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o</a:t>
                      </a:r>
                      <a:r>
                        <a:rPr lang="es-ES" sz="22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 2 del Valle del </a:t>
                      </a:r>
                      <a:r>
                        <a:rPr lang="es-ES" sz="22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Cauca</a:t>
                      </a:r>
                      <a:endParaRPr lang="es-ES" sz="22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4508" marR="645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1997 1998 1999 2000</a:t>
                      </a:r>
                    </a:p>
                  </a:txBody>
                  <a:tcPr marL="64508" marR="6450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de Protección de Cuencas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  <p:pic>
        <p:nvPicPr>
          <p:cNvPr id="13317" name="3 Imagen" descr="Cuenca Nim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714500"/>
            <a:ext cx="2286000" cy="303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4 Imagen" descr="Siembra Nim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357563"/>
            <a:ext cx="3300413" cy="308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6" descr="Imagen 4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2214563"/>
            <a:ext cx="187325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14" descr="Imagen 50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2071688"/>
            <a:ext cx="1979612" cy="148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33" descr="IMG_002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1928813"/>
            <a:ext cx="2376488" cy="178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3 Imagen" descr="Aislamiento 1.jp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3286125"/>
            <a:ext cx="1492250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3" name="8 Imagen" descr="qUEBRADA.jp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4286250"/>
            <a:ext cx="1573213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4" name="Picture 8" descr="Imagen 44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4786313"/>
            <a:ext cx="1944687" cy="145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5" name="Picture 35" descr="Imagen 22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3857625"/>
            <a:ext cx="1657350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6" name="Picture 5" descr="IMG_033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5143500"/>
            <a:ext cx="1635125" cy="122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7" name="4 Imagen" descr="Aislamiento.jpg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4764088"/>
            <a:ext cx="1487487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de Protección de Cuencas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3" name="2 Tabla"/>
          <p:cNvGraphicFramePr>
            <a:graphicFrameLocks noGrp="1"/>
          </p:cNvGraphicFramePr>
          <p:nvPr/>
        </p:nvGraphicFramePr>
        <p:xfrm>
          <a:off x="0" y="1857375"/>
          <a:ext cx="9144001" cy="5043670"/>
        </p:xfrm>
        <a:graphic>
          <a:graphicData uri="http://schemas.openxmlformats.org/drawingml/2006/table">
            <a:tbl>
              <a:tblPr/>
              <a:tblGrid>
                <a:gridCol w="2714612"/>
                <a:gridCol w="785818"/>
                <a:gridCol w="785818"/>
                <a:gridCol w="4071966"/>
                <a:gridCol w="785787"/>
              </a:tblGrid>
              <a:tr h="7920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cap="none" baseline="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Áreas </a:t>
                      </a:r>
                      <a:r>
                        <a:rPr lang="es-ES" sz="1600" b="1" cap="none" baseline="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 Trabajo</a:t>
                      </a:r>
                      <a:endParaRPr lang="es-ES" sz="1600" cap="none" baseline="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Beneficiarios Directos</a:t>
                      </a:r>
                      <a:endParaRPr lang="es-ES" sz="14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Cant</a:t>
                      </a:r>
                      <a:r>
                        <a:rPr lang="es-ES" sz="16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.</a:t>
                      </a:r>
                      <a:endParaRPr lang="es-ES" sz="16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Descripción Objeto</a:t>
                      </a:r>
                      <a:endParaRPr lang="es-ES" sz="16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</a:t>
                      </a:r>
                      <a:r>
                        <a:rPr lang="es-ES" sz="13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eriodo</a:t>
                      </a:r>
                      <a:r>
                        <a:rPr lang="es-ES" sz="14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 Años</a:t>
                      </a:r>
                      <a:endParaRPr lang="es-ES" sz="14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960069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Control </a:t>
                      </a: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 de 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Torrentes </a:t>
                      </a: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y</a:t>
                      </a:r>
                      <a:r>
                        <a:rPr lang="es-ES" sz="2100" baseline="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 </a:t>
                      </a: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Erosión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52779" marR="527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10</a:t>
                      </a:r>
                    </a:p>
                  </a:txBody>
                  <a:tcPr marL="52779" marR="527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237</a:t>
                      </a:r>
                    </a:p>
                  </a:txBody>
                  <a:tcPr marL="52779" marR="527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M</a:t>
                      </a:r>
                      <a:r>
                        <a:rPr lang="es-ES" sz="2100" baseline="30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3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 de Muros </a:t>
                      </a:r>
                      <a:r>
                        <a:rPr lang="es-ES" sz="21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Gavionados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 y 10 Trinchos, en  Cuencas Hidrográficas </a:t>
                      </a:r>
                      <a:r>
                        <a:rPr lang="es-ES" sz="21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Nima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 y </a:t>
                      </a:r>
                      <a:r>
                        <a:rPr lang="es-ES" sz="21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Amaime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52779" marR="527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1999 2000</a:t>
                      </a:r>
                    </a:p>
                  </a:txBody>
                  <a:tcPr marL="52779" marR="5277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095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Propagación Vegetal</a:t>
                      </a:r>
                    </a:p>
                  </a:txBody>
                  <a:tcPr marL="47073" marR="470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10</a:t>
                      </a:r>
                    </a:p>
                  </a:txBody>
                  <a:tcPr marL="47073" marR="470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12.800</a:t>
                      </a:r>
                    </a:p>
                  </a:txBody>
                  <a:tcPr marL="47073" marR="470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Plántulas de Especies Arbóreas Nativas y </a:t>
                      </a: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Guadua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47073" marR="470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1999 2001</a:t>
                      </a:r>
                    </a:p>
                  </a:txBody>
                  <a:tcPr marL="47073" marR="470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9136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Reforestación Urbana y Rural</a:t>
                      </a:r>
                    </a:p>
                  </a:txBody>
                  <a:tcPr marL="40505" marR="405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57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40505" marR="405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9</a:t>
                      </a: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1.8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40505" marR="405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Hectáreas en  Cuencas Hidrográficas de los Ríos </a:t>
                      </a:r>
                      <a:r>
                        <a:rPr lang="es-ES" sz="21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Nima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s-ES" sz="21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Amaime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Calima, Bolo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40505" marR="405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1999 2000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2006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2009</a:t>
                      </a:r>
                      <a:endParaRPr lang="es-ES" sz="20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40505" marR="4050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092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Aislamiento de Nacimientos de Agua</a:t>
                      </a:r>
                    </a:p>
                  </a:txBody>
                  <a:tcPr marL="35545" marR="355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57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35545" marR="355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61.8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35545" marR="355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Hectáreas en  Cuencas Hidrográficas de los Ríos </a:t>
                      </a:r>
                      <a:r>
                        <a:rPr lang="es-ES" sz="21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Nima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s-ES" sz="21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Amaime</a:t>
                      </a: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, </a:t>
                      </a: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Calima y Bolo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35545" marR="355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1999 2000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2006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2009</a:t>
                      </a:r>
                      <a:endParaRPr lang="es-ES" sz="20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35545" marR="3554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1 Imagen" descr="Reforesta 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5" y="1643063"/>
            <a:ext cx="2271713" cy="198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2 Imagen" descr="Reforest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7438"/>
            <a:ext cx="2195513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5 Imagen" descr="Bodega Reciclaje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3071813"/>
            <a:ext cx="2784475" cy="175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10 Imagen" descr="Modulo.jpg"/>
          <p:cNvPicPr>
            <a:picLocks noChangeAspect="1"/>
          </p:cNvPicPr>
          <p:nvPr/>
        </p:nvPicPr>
        <p:blipFill>
          <a:blip r:embed="rId5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563" y="1714500"/>
            <a:ext cx="154622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6 Imagen" descr="Cuenca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00500"/>
            <a:ext cx="279082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11 Imagen" descr="Planta Tenjo.jpg"/>
          <p:cNvPicPr>
            <a:picLocks noChangeAspect="1"/>
          </p:cNvPicPr>
          <p:nvPr/>
        </p:nvPicPr>
        <p:blipFill>
          <a:blip r:embed="rId7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928813"/>
            <a:ext cx="2397125" cy="249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de Saneamiento Básico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  <p:pic>
        <p:nvPicPr>
          <p:cNvPr id="15371" name="Picture 16" descr="Imagen 44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4786313"/>
            <a:ext cx="2016125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27" descr="IMG_067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3143250"/>
            <a:ext cx="19431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9 Imagen" descr="Acueductos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4929188"/>
            <a:ext cx="2071688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4" name="7 Imagen" descr="Planta.jpg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75" y="4572000"/>
            <a:ext cx="2790825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de Saneamiento Básico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3" name="2 Tabla"/>
          <p:cNvGraphicFramePr>
            <a:graphicFrameLocks noGrp="1"/>
          </p:cNvGraphicFramePr>
          <p:nvPr/>
        </p:nvGraphicFramePr>
        <p:xfrm>
          <a:off x="0" y="1928813"/>
          <a:ext cx="9144000" cy="4756801"/>
        </p:xfrm>
        <a:graphic>
          <a:graphicData uri="http://schemas.openxmlformats.org/drawingml/2006/table">
            <a:tbl>
              <a:tblPr/>
              <a:tblGrid>
                <a:gridCol w="3571868"/>
                <a:gridCol w="1357322"/>
                <a:gridCol w="785818"/>
                <a:gridCol w="2643206"/>
                <a:gridCol w="785786"/>
              </a:tblGrid>
              <a:tr h="5505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cap="none" baseline="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Áreas </a:t>
                      </a:r>
                      <a:r>
                        <a:rPr lang="es-ES" sz="1800" b="1" cap="none" baseline="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 Trabajo</a:t>
                      </a:r>
                      <a:endParaRPr lang="es-ES" sz="1800" cap="none" baseline="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Beneficiarios Directos</a:t>
                      </a:r>
                      <a:endParaRPr lang="es-ES" sz="18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Cant</a:t>
                      </a:r>
                      <a:r>
                        <a:rPr lang="es-ES" sz="18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.</a:t>
                      </a:r>
                      <a:endParaRPr lang="es-ES" sz="18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Descripción Objeto</a:t>
                      </a:r>
                      <a:endParaRPr lang="es-ES" sz="18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4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Periodo Años</a:t>
                      </a:r>
                      <a:endParaRPr lang="es-ES" sz="14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462814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4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Rurales de Acueductos, Alcantarillados y Potabilización de Agua</a:t>
                      </a: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528</a:t>
                      </a: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</a:t>
                      </a: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180340" algn="l"/>
                        </a:tabLs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Planta de Potabilización de Agua </a:t>
                      </a:r>
                      <a:r>
                        <a:rPr lang="es-ES" sz="20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 </a:t>
                      </a:r>
                      <a:r>
                        <a:rPr lang="es-ES" sz="2000" dirty="0" err="1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Tenjo</a:t>
                      </a:r>
                      <a:endParaRPr lang="es-ES" sz="20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2001</a:t>
                      </a: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2776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4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Gestión de Residuos Sólidos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180340" algn="l"/>
                        </a:tabLs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Programa de Manejo de Residuos Sólidos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Wingdings"/>
                        <a:buChar char=""/>
                        <a:tabLst>
                          <a:tab pos="180340" algn="l"/>
                        </a:tabLst>
                      </a:pPr>
                      <a:r>
                        <a:rPr lang="es-ES" sz="20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Construcción Bodega de Almacenamiento de Basuras Inorgánicas y </a:t>
                      </a:r>
                      <a:r>
                        <a:rPr lang="es-ES" sz="2000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Compostadero</a:t>
                      </a:r>
                      <a:endParaRPr lang="es-ES" sz="20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es-ES" sz="2000" kern="1200" dirty="0" smtClean="0">
                          <a:solidFill>
                            <a:schemeClr val="tx1"/>
                          </a:solidFill>
                          <a:latin typeface="Bradley Hand ITC" pitchFamily="66" charset="0"/>
                          <a:ea typeface="+mn-ea"/>
                          <a:cs typeface="Arial" pitchFamily="34" charset="0"/>
                        </a:rPr>
                        <a:t>2001 2002 2003</a:t>
                      </a:r>
                      <a:endParaRPr lang="es-ES" sz="20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Empresarial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997444"/>
              </p:ext>
            </p:extLst>
          </p:nvPr>
        </p:nvGraphicFramePr>
        <p:xfrm>
          <a:off x="0" y="1772816"/>
          <a:ext cx="9144000" cy="5017717"/>
        </p:xfrm>
        <a:graphic>
          <a:graphicData uri="http://schemas.openxmlformats.org/drawingml/2006/table">
            <a:tbl>
              <a:tblPr/>
              <a:tblGrid>
                <a:gridCol w="2571736"/>
                <a:gridCol w="1285884"/>
                <a:gridCol w="642942"/>
                <a:gridCol w="3786214"/>
                <a:gridCol w="857224"/>
              </a:tblGrid>
              <a:tr h="8571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cap="none" baseline="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Áreas </a:t>
                      </a:r>
                      <a:r>
                        <a:rPr lang="es-ES" sz="1800" b="1" cap="none" baseline="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 Trabajo</a:t>
                      </a:r>
                      <a:endParaRPr lang="es-ES" sz="1800" cap="none" baseline="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Beneficiarios Directos</a:t>
                      </a:r>
                      <a:endParaRPr lang="es-ES" sz="18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600" b="1" dirty="0" err="1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Cant</a:t>
                      </a:r>
                      <a:r>
                        <a:rPr lang="es-ES" sz="16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.</a:t>
                      </a:r>
                      <a:endParaRPr lang="es-ES" sz="16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Descripción Objeto</a:t>
                      </a:r>
                      <a:endParaRPr lang="es-ES" sz="18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1800" b="1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Periodo Años</a:t>
                      </a:r>
                      <a:endParaRPr lang="es-ES" sz="18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1280072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Gestión Empresarial y Transformación Agroindustrial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69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Canales de Comercialización Establecidos con Almacenes de Cadena en Pradera, Palmira y Cali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es-ES" sz="2100" kern="1200" dirty="0" smtClean="0">
                          <a:solidFill>
                            <a:schemeClr val="tx1"/>
                          </a:solidFill>
                          <a:latin typeface="Bradley Hand ITC" pitchFamily="66" charset="0"/>
                          <a:ea typeface="+mn-ea"/>
                          <a:cs typeface="Arial" pitchFamily="34" charset="0"/>
                        </a:rPr>
                        <a:t>2003 2006 2007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072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Agropecuarios Sostenibles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 smtClean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89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Sistema de Producción Agrícola (hortalizas ciclo corto) y Pecuaria (aves), con enfoque Agroecológico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es-ES" sz="2100" kern="1200" dirty="0" smtClean="0">
                          <a:solidFill>
                            <a:schemeClr val="tx1"/>
                          </a:solidFill>
                          <a:latin typeface="Bradley Hand ITC" pitchFamily="66" charset="0"/>
                          <a:ea typeface="+mn-ea"/>
                          <a:cs typeface="Arial" pitchFamily="34" charset="0"/>
                        </a:rPr>
                        <a:t>2003 2006 2007 2013 2014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072">
                <a:tc>
                  <a:txBody>
                    <a:bodyPr/>
                    <a:lstStyle/>
                    <a:p>
                      <a:pPr marL="342900" lvl="0" indent="-342900" algn="ctr">
                        <a:spcAft>
                          <a:spcPts val="0"/>
                        </a:spcAft>
                        <a:buFont typeface="Wingdings"/>
                        <a:buNone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Proyectos de Mejoramiento Comunitario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528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Arial" pitchFamily="34" charset="0"/>
                        <a:buChar char="•"/>
                        <a:tabLst>
                          <a:tab pos="180340" algn="l"/>
                        </a:tabLst>
                      </a:pPr>
                      <a:r>
                        <a:rPr lang="es-ES" sz="2100" dirty="0">
                          <a:latin typeface="Bradley Hand ITC" pitchFamily="66" charset="0"/>
                          <a:ea typeface="Times New Roman"/>
                          <a:cs typeface="Arial" pitchFamily="34" charset="0"/>
                        </a:rPr>
                        <a:t>Gestión Interinstitucional Lograda, para la Prestación de Servicios de Salud, Educación y Recreación’.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kumimoji="0" lang="es-ES" sz="2100" kern="1200" dirty="0" smtClean="0">
                          <a:solidFill>
                            <a:schemeClr val="tx1"/>
                          </a:solidFill>
                          <a:latin typeface="Bradley Hand ITC" pitchFamily="66" charset="0"/>
                          <a:ea typeface="+mn-ea"/>
                          <a:cs typeface="Arial" pitchFamily="34" charset="0"/>
                        </a:rPr>
                        <a:t>2001 2003</a:t>
                      </a:r>
                      <a:endParaRPr lang="es-ES" sz="2100" dirty="0">
                        <a:latin typeface="Bradley Hand ITC" pitchFamily="66" charset="0"/>
                        <a:ea typeface="Times New Roman"/>
                        <a:cs typeface="Arial" pitchFamily="34" charset="0"/>
                      </a:endParaRPr>
                    </a:p>
                  </a:txBody>
                  <a:tcPr marL="17417" marR="1741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0" y="1071563"/>
            <a:ext cx="9144000" cy="584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adley Hand ITC" pitchFamily="66" charset="0"/>
              </a:rPr>
              <a:t>Línea Empresarial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adley Hand ITC" pitchFamily="66" charset="0"/>
            </a:endParaRPr>
          </a:p>
        </p:txBody>
      </p:sp>
      <p:pic>
        <p:nvPicPr>
          <p:cNvPr id="18437" name="Picture 7" descr="Imagen 1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906713"/>
            <a:ext cx="1635125" cy="122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18 Imagen" descr="Fusion 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87738"/>
            <a:ext cx="9144000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9" descr="DSC0083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3429000"/>
            <a:ext cx="1800225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10" descr="DSC0080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1682750"/>
            <a:ext cx="25558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12" descr="DSC0077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1797050"/>
            <a:ext cx="25558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15" descr="Imagen 5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704975"/>
            <a:ext cx="17287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8" descr="DSC0083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3049588"/>
            <a:ext cx="25558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Picture 6" descr="Imagen 15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878013"/>
            <a:ext cx="2066925" cy="1550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18" descr="Imagen 15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3714750"/>
            <a:ext cx="2097087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Picture 11" descr="DSC0079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3194050"/>
            <a:ext cx="255587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2410</TotalTime>
  <Words>1063</Words>
  <Application>Microsoft Office PowerPoint</Application>
  <PresentationFormat>Presentación en pantalla (4:3)</PresentationFormat>
  <Paragraphs>165</Paragraphs>
  <Slides>17</Slides>
  <Notes>1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9" baseType="lpstr">
      <vt:lpstr>Flujo</vt:lpstr>
      <vt:lpstr>Organization Chart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JOSE ERLIN</dc:creator>
  <cp:lastModifiedBy>JOSE ERLIN</cp:lastModifiedBy>
  <cp:revision>239</cp:revision>
  <dcterms:created xsi:type="dcterms:W3CDTF">2006-06-21T11:53:46Z</dcterms:created>
  <dcterms:modified xsi:type="dcterms:W3CDTF">2016-12-13T12:38:56Z</dcterms:modified>
</cp:coreProperties>
</file>